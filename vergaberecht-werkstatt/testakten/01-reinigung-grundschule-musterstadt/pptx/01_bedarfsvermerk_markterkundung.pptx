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Bedarfsvermerk Unterhalts- und Glasreinigung Grundschulen</a:t>
            </a:r>
          </a:p>
        </p:txBody>
      </p:sp>
      <p:sp>
        <p:nvSpPr>
          <p:cNvPr id="3" name="Subtitle 2"/>
          <p:cNvSpPr>
            <a:spLocks noGrp="1"/>
          </p:cNvSpPr>
          <p:nvPr>
            <p:ph type="subTitle" idx="1"/>
          </p:nvPr>
        </p:nvSpPr>
        <p:spPr/>
        <p:txBody>
          <a:bodyPr/>
          <a:lstStyle/>
          <a:p>
            <a:r>
              <a:t>Stadt Musterstadt - Zentrale Vergabestelle</a:t>
            </a:r>
          </a:p>
          <a:p>
            <a:r>
              <a:t>04.06.2026</a:t>
            </a:r>
          </a:p>
          <a:p>
            <a:r>
              <a:t>Az: VS-2026-RE-014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Anlass und Ausgangslage</a:t>
            </a:r>
          </a:p>
        </p:txBody>
      </p:sp>
      <p:sp>
        <p:nvSpPr>
          <p:cNvPr id="3" name="Content Placeholder 2"/>
          <p:cNvSpPr>
            <a:spLocks noGrp="1"/>
          </p:cNvSpPr>
          <p:nvPr>
            <p:ph idx="1"/>
          </p:nvPr>
        </p:nvSpPr>
        <p:spPr/>
        <p:txBody>
          <a:bodyPr wrap="square"/>
          <a:lstStyle/>
          <a:p>
            <a:pPr/>
            <a:r>
              <a:rPr sz="1400"/>
              <a:t>Die Reinigungsverträge für die Grundschule Am Park, die Grundschule Süd und die Grundschule Nord enden am 31.12.2026. Eine Verlängerung ist im Altvertrag nicht mehr vorgesehen. Wegen der Nutzung durch Ganztagsbetrieb, Mensa, Sporthalle und Ferienbetreuung muss die Anschlussleistung ab 01.01.2027 ohne Unterbrechung verfügbar sein.</a:t>
            </a:r>
          </a:p>
          <a:p>
            <a:pPr/>
            <a:r>
              <a:rPr sz="1400"/>
              <a:t>Die Schulleitungen haben im Mai 2026 wiederholt dokumentiert, dass die bisherige Leistungsbeschreibung zu ungenau ist. Besonders betroffen sind Sanitärbereiche, Mensa, Treppenhäuser und Glasflächen mit hohem Publikumsverkehr. Die neue Ausschreibung soll deshalb nicht nur Quadratmeter, sondern Reinigungsfrequenz, Qualitätsniveau und Eskalationswege enthalten.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Markterkundung nach § 28 VgV</a:t>
            </a:r>
          </a:p>
        </p:txBody>
      </p:sp>
      <p:sp>
        <p:nvSpPr>
          <p:cNvPr id="3" name="Content Placeholder 2"/>
          <p:cNvSpPr>
            <a:spLocks noGrp="1"/>
          </p:cNvSpPr>
          <p:nvPr>
            <p:ph idx="1"/>
          </p:nvPr>
        </p:nvSpPr>
        <p:spPr/>
        <p:txBody>
          <a:bodyPr wrap="square"/>
          <a:lstStyle/>
          <a:p>
            <a:pPr/>
            <a:r>
              <a:rPr sz="1400"/>
              <a:t>Die Vergabestelle hat am 02.06.2026 eine nicht diskriminierende Markterkundung durchgeführt. Angeschrieben wurden drei regionale und drei überregionale Reinigungsdienstleister. Übermittelt wurden nur anonymisierte Flächen- und Frequenzdaten; Vergabeunterlagen wurden nicht vorweggenommen.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Markterkundung nach § 28 VgV</a:t>
            </a:r>
          </a:p>
        </p:txBody>
      </p:sp>
      <p:graphicFrame>
        <p:nvGraphicFramePr>
          <p:cNvPr id="3" name="Table 2"/>
          <p:cNvGraphicFramePr>
            <a:graphicFrameLocks noGrp="1"/>
          </p:cNvGraphicFramePr>
          <p:nvPr/>
        </p:nvGraphicFramePr>
        <p:xfrm>
          <a:off x="365760" y="1463040"/>
          <a:ext cx="8412480" cy="1737360"/>
        </p:xfrm>
        <a:graphic>
          <a:graphicData uri="http://schemas.openxmlformats.org/drawingml/2006/table">
            <a:tbl>
              <a:tblPr firstRow="1" bandRow="1">
                <a:tableStyleId>{5C22544A-7EE6-4342-B048-85BDC9FD1C3A}</a:tableStyleId>
              </a:tblPr>
              <a:tblGrid>
                <a:gridCol w="4206240"/>
                <a:gridCol w="4206240"/>
              </a:tblGrid>
              <a:tr h="347472">
                <a:tc>
                  <a:txBody>
                    <a:bodyPr/>
                    <a:lstStyle/>
                    <a:p>
                      <a:r>
                        <a:rPr sz="1050" b="1"/>
                        <a:t>Erkenntnis</a:t>
                      </a:r>
                    </a:p>
                  </a:txBody>
                  <a:tcPr marL="64008" marR="64008" marT="36576" marB="36576"/>
                </a:tc>
                <a:tc>
                  <a:txBody>
                    <a:bodyPr/>
                    <a:lstStyle/>
                    <a:p>
                      <a:r>
                        <a:rPr sz="1050" b="1"/>
                        <a:t>Bewertung für die Ausschreibung</a:t>
                      </a:r>
                    </a:p>
                  </a:txBody>
                  <a:tcPr marL="64008" marR="64008" marT="36576" marB="36576"/>
                </a:tc>
              </a:tr>
              <a:tr h="347472">
                <a:tc>
                  <a:txBody>
                    <a:bodyPr/>
                    <a:lstStyle/>
                    <a:p>
                      <a:r>
                        <a:rPr sz="1050" b="0"/>
                        <a:t>Schulreinigung wird regelmäßig als Unterhaltsreinigung mit objektbezogener Objektleitung angeboten.</a:t>
                      </a:r>
                    </a:p>
                  </a:txBody>
                  <a:tcPr marL="64008" marR="64008" marT="36576" marB="36576"/>
                </a:tc>
                <a:tc>
                  <a:txBody>
                    <a:bodyPr/>
                    <a:lstStyle/>
                    <a:p>
                      <a:r>
                        <a:rPr sz="1050" b="0"/>
                        <a:t>Objektleitung als Mindestanforderung aufnehmen, aber keine bestimmte Organisationsform verlangen.</a:t>
                      </a:r>
                    </a:p>
                  </a:txBody>
                  <a:tcPr marL="64008" marR="64008" marT="36576" marB="36576"/>
                </a:tc>
              </a:tr>
              <a:tr h="347472">
                <a:tc>
                  <a:txBody>
                    <a:bodyPr/>
                    <a:lstStyle/>
                    <a:p>
                      <a:r>
                        <a:rPr sz="1050" b="0"/>
                        <a:t>Glasreinigung wird häufig unterbeauftragt.</a:t>
                      </a:r>
                    </a:p>
                  </a:txBody>
                  <a:tcPr marL="64008" marR="64008" marT="36576" marB="36576"/>
                </a:tc>
                <a:tc>
                  <a:txBody>
                    <a:bodyPr/>
                    <a:lstStyle/>
                    <a:p>
                      <a:r>
                        <a:rPr sz="1050" b="0"/>
                        <a:t>Unterauftragnehmer zulassen, Eignungsnachweise und Tariftreue auf Unterauftragnehmer erstrecken.</a:t>
                      </a:r>
                    </a:p>
                  </a:txBody>
                  <a:tcPr marL="64008" marR="64008" marT="36576" marB="36576"/>
                </a:tc>
              </a:tr>
              <a:tr h="347472">
                <a:tc>
                  <a:txBody>
                    <a:bodyPr/>
                    <a:lstStyle/>
                    <a:p>
                      <a:r>
                        <a:rPr sz="1050" b="0"/>
                        <a:t>Digitale Qualitätskontrolle ist marktüblich, aber nicht bei jedem kleinen Anbieter vorhanden.</a:t>
                      </a:r>
                    </a:p>
                  </a:txBody>
                  <a:tcPr marL="64008" marR="64008" marT="36576" marB="36576"/>
                </a:tc>
                <a:tc>
                  <a:txBody>
                    <a:bodyPr/>
                    <a:lstStyle/>
                    <a:p>
                      <a:r>
                        <a:rPr sz="1050" b="0"/>
                        <a:t>Als Zuschlagskriterium bewerten, nicht als KO-Kriterium setzen.</a:t>
                      </a:r>
                    </a:p>
                  </a:txBody>
                  <a:tcPr marL="64008" marR="64008" marT="36576" marB="36576"/>
                </a:tc>
              </a:tr>
              <a:tr h="347472">
                <a:tc>
                  <a:txBody>
                    <a:bodyPr/>
                    <a:lstStyle/>
                    <a:p>
                      <a:r>
                        <a:rPr sz="1050" b="0"/>
                        <a:t>Personalknappheit führt zu Vertretungsrisiken.</a:t>
                      </a:r>
                    </a:p>
                  </a:txBody>
                  <a:tcPr marL="64008" marR="64008" marT="36576" marB="36576"/>
                </a:tc>
                <a:tc>
                  <a:txBody>
                    <a:bodyPr/>
                    <a:lstStyle/>
                    <a:p>
                      <a:r>
                        <a:rPr sz="1050" b="0"/>
                        <a:t>Vertretungskonzept und Reaktionszeiten in die Wertung aufnehmen.</a:t>
                      </a:r>
                    </a:p>
                  </a:txBody>
                  <a:tcPr marL="64008" marR="64008" marT="36576" marB="36576"/>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Bedarf</a:t>
            </a:r>
          </a:p>
        </p:txBody>
      </p:sp>
      <p:sp>
        <p:nvSpPr>
          <p:cNvPr id="3" name="Content Placeholder 2"/>
          <p:cNvSpPr>
            <a:spLocks noGrp="1"/>
          </p:cNvSpPr>
          <p:nvPr>
            <p:ph idx="1"/>
          </p:nvPr>
        </p:nvSpPr>
        <p:spPr/>
        <p:txBody>
          <a:bodyPr wrap="square"/>
          <a:lstStyle/>
          <a:p>
            <a:pPr/>
            <a:r>
              <a:rPr sz="1400"/>
              <a:t>Benötigt wird ein Dienstleistungsvertrag über Unterhalts- und Glasreinigung für drei Schulen. Die Leistung muss laufenden Schulbetrieb, Ferienreinigung und Sonderreinigung nach Veranstaltungen abdecken. Die Vergabestelle benötigt ein Berichtssystem, das Mängel, Nachreinigung und Reaktionszeiten nachvollziehbar dokumentiert.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Vergaberechtliche Einordnung</a:t>
            </a:r>
          </a:p>
        </p:txBody>
      </p:sp>
      <p:sp>
        <p:nvSpPr>
          <p:cNvPr id="3" name="Content Placeholder 2"/>
          <p:cNvSpPr>
            <a:spLocks noGrp="1"/>
          </p:cNvSpPr>
          <p:nvPr>
            <p:ph idx="1"/>
          </p:nvPr>
        </p:nvSpPr>
        <p:spPr/>
        <p:txBody>
          <a:bodyPr wrap="square"/>
          <a:lstStyle/>
          <a:p>
            <a:pPr/>
            <a:r>
              <a:rPr sz="1400"/>
              <a:t>Der Auftragsgegenstand ist eine Dienstleistung. Der voraussichtliche Gesamtwert liegt oberhalb des EU-Schwellenwerts. Nach § 119 Abs. 2 GWB kann die Stadt zwischen offenem und nicht offenem Verfahren mit Teilnahmewettbewerb wählen. Für die marktgängige, ohne vorgelagerte Bewerberauswahl beschreibbare Reinigungsleistung wird das offene Verfahren gewählt. Besondere Dringlichkeit besteht nicht; eine Verkürzung der Angebotsfrist ist nicht erforderlich.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Entscheidung</a:t>
            </a:r>
          </a:p>
        </p:txBody>
      </p:sp>
      <p:sp>
        <p:nvSpPr>
          <p:cNvPr id="3" name="Content Placeholder 2"/>
          <p:cNvSpPr>
            <a:spLocks noGrp="1"/>
          </p:cNvSpPr>
          <p:nvPr>
            <p:ph idx="1"/>
          </p:nvPr>
        </p:nvSpPr>
        <p:spPr/>
        <p:txBody>
          <a:bodyPr wrap="square"/>
          <a:lstStyle/>
          <a:p>
            <a:pPr/>
            <a:r>
              <a:rPr sz="1400"/>
              <a:t>Die Zentrale Vergabestelle bereitet ein EU-weites offenes Verfahren vor. Die Unterlagen werden als eForms-Bekanntmachung, Bewerbungsbedingungen, Leistungsbeschreibung, Preisblatt, Vertragsbedingungen und Bewertungsmatrix veröffentlicht.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itle>Bedarfsvermerk Unterhalts- und Glasreinigung Grundschulen</dc:title>
  <dc:subject>Bedarfsvermerk | Az. VS-2026-RE-014</dc:subject>
  <dc:creator>Stadt Musterstadt - Zentrale Vergabestelle</dc:creator>
  <cp:keywords>Vergaberecht, VS-2026-RE-014, Bedarfsvermerk</cp:keywords>
  <dc:description>generated using python-pptx</dc:description>
  <cp:lastModifiedBy>Stadt Musterstadt - Zentrale Vergabestelle</cp:lastModifiedBy>
  <cp:revision>1</cp:revision>
  <dcterms:created xsi:type="dcterms:W3CDTF">2000-01-01T00:00:00Z</dcterms:created>
  <dcterms:modified xsi:type="dcterms:W3CDTF">2000-01-01T00:00:00Z</dcterms:modified>
  <cp:category>Vergabeakte</cp:category>
</cp:coreProperties>
</file>