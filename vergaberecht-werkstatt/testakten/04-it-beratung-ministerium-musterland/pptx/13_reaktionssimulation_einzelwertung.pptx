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Einheitliche Prüfung der angebotenen Reaktionsleistung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Ministerium des Innern Musterland - Zentrale Vergabestelle</a:t>
            </a:r>
          </a:p>
          <a:p>
            <a:r>
              <a:t>15.09.2026</a:t>
            </a:r>
          </a:p>
          <a:p>
            <a:r>
              <a:t>Az: MID-STRAT-2026-07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Gegenstand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400"/>
              <a:t>Die drei verbliebenen Bieterteams bearbeiteten am 14.09.2026 dasselbe veröffentlichte Szenario. Geprüft wurden nur verbindlich angebotene Abläufe; Anreiseort und Unternehmenssitz blieben unbewertet.</a:t>
            </a:r>
          </a:p>
          <a:p>
            <a:pPr/>
            <a:r>
              <a:rPr sz="1400"/>
              <a:t>Szenario: Ab 07:35 Uhr treffen gleichzeitig zwei Verschlüsselungsereignisse, auffällige privilegierte Anmeldungen und später der Ausfall einer Behörden-Telefonanlage ein. Gefordert waren Erstreaktion, Rollen, Mobilisierung, Wiederherstellungsprioritäten und Krisenstabsübergabe.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Verfahrensgleichheit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Verfahrensgleichheit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84124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/>
                        <a:t>Kontrollpunkt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Vorgabe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Vollzug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Vorbereitungszeit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30 Minuten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Beginn für alle Teams nach dokumentiertem Download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Präsentation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25 Minuten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Zeitwächterin stoppte bei Minute 25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Rückfragen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sechs vorab festgelegte Fragen, 20 Minuten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gleiche Reihenfolge; spontane Nachfrage nur zum Verständnis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Hilfsmittel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Angebotsunterlagen, Whiteboard, kein Internet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Raumkontrolle dokumentiert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Bewertung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drei Einzelwertungen vor Konsens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Einzelbögen um 13:42 Uhr schreibgeschützt archiviert</a:t>
                      </a:r>
                    </a:p>
                  </a:txBody>
                  <a:tcPr marL="64008" marR="64008" marT="36576" marB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Tatsächlicher Ablauf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Tatsächlicher Ablauf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84124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/>
                        <a:t>Team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Erstreaktion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parallele Einsatzführung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Vor-Ort-Mobilisierung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Wiederherstellungsübergabe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Beratung Mustertal / Secure Response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Incident Lead nach 8 Minuten benannt; Kommunikationskanal nach 11 Minuten eröffnet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zwei Workstreams mit gemeinsamer Lagekarte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Lead Süd ab 08:20 Uhr abfahrbereit, Ersatzroute benannt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Identitätsdienst priorisiert; Übergabepaket mit Entscheidungslog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HanseCyber Consulting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Incident Lead nach 6 Minuten benannt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zweiter Workstream erst nach Hinweis des Gremiums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Anreise aus regionalem Partnerpool, konkrete Person nicht im Angebot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technische Wiederherstellung plausibel, Behördenkommunikation spät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Resilience Partners AG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Erstmeldung nach 14 Minuten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drei Streams, aber unklare Entscheidungsbefugnis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zwei namentlich benannte Personen und Bahn-/Fahrzeugoption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vollständige Checkliste, Priorisierung der Telefonanlage nicht begründet</a:t>
                      </a:r>
                    </a:p>
                  </a:txBody>
                  <a:tcPr marL="64008" marR="64008" marT="36576" marB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Einzelwertungen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400"/>
              <a:t>Höchstwert waren 15 Punkte. Die Abweichung bei Mustertal beruht darauf, dass Eva Scholl den Ersatzreiseweg zunächst als neue Präsentationsaussage ansah. Die Angebotsanlage M-07_Mobilisierung.pdf, Seite 6, enthält den Ersatzweg jedoch bereits. Die Konsensrunde durfte diese fristgebundene Fundstelle berücksichtigen.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Einzelwertungen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84124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/>
                        <a:t>Bewertende Person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Mustertal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HanseCyber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Resilience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wesentlicher Abweichungsgrund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Dr. Miriam Falk, CISO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13.5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10.0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11.5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technische Parallelisierung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Jonas Marten, Krisenstab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14.0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9.5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12.0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Behördenkommunikation und Übergabe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Eva Scholl, Beschaffung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12.5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10.5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11.0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Bindung an veröffentlichte Angebotszusagen</a:t>
                      </a:r>
                    </a:p>
                  </a:txBody>
                  <a:tcPr marL="64008" marR="64008" marT="36576" marB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Konsensentscheidung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400"/>
              <a:t>Die sechsminütige Erstreaktion von HanseCyber führt nicht automatisch zum besten Gesamtergebnis. Das Angebot ließ die Besetzung des parallelen zweiten Vorfalls und die konkrete Vor-Ort-Ressource offen. Mustertal war nicht wegen räumlicher Nähe besser, sondern wegen der schon im Angebot zugesagten Rollen, Vertretung, Ersatzroute und protokollierten Übergabe.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Konsensentscheidung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84124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/>
                        <a:t>Unterkriterium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Mustertal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HanseCyber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Resilience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tragender Grund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Erstreaktion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4.5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5.0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3.5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Messpunkt, Rolle und Vertretung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Mobilisierung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4.5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2.5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4.0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namentliche Ressourcen und Ersatzroute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Wiederherstellung und Übergabe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4.5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3.0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4.0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Priorisierung, Entscheidungslog und Übergabepunkt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Gesamt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13.5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10.5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11.5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Summe der veröffentlichten Unterkriterien</a:t>
                      </a:r>
                    </a:p>
                  </a:txBody>
                  <a:tcPr marL="64008" marR="64008" marT="36576" marB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Beleg- und Integritätsliste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400"/>
              <a:t>Dr. Miriam Falk; Jonas Marten; Eva Scholl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Beleg- und Integritätsliste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84124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/>
                        <a:t>Beleg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Zeitstempel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Status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Szenariodatei SIM-01.pdf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14.09.2026, 07:00 Uhr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für alle Teams identisch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Raumprotokolle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je Termin unmittelbar geschlossen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von Zeitwächterin und Teamvertretung gezeichnet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Einzelbögen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14.09.2026, 13:42 Uhr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schreibgeschützt, Hashliste in Vergabeakte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Konsensprotokoll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15.09.2026, 10:18 Uhr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Gründe je Abweichung dokumentiert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Angebotsfundstellen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Angebotsfreeze 31.08.2026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keine spätere Leistungszusage berücksichtigt</a:t>
                      </a:r>
                    </a:p>
                  </a:txBody>
                  <a:tcPr marL="64008" marR="64008" marT="36576" marB="36576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Einheitliche Prüfung der angebotenen Reaktionsleistung</dc:title>
  <dc:subject>Protokoll der Reaktionssimulation und Einzelwertung | Az. MID-STRAT-2026-07</dc:subject>
  <dc:creator>Ministerium des Innern Musterland - Zentrale Vergabestelle</dc:creator>
  <cp:keywords>Vergaberecht, MID-STRAT-2026-07, Protokoll der Reaktionssimulation und Einzelwertung</cp:keywords>
  <dc:description>generated using python-pptx</dc:description>
  <cp:lastModifiedBy>Ministerium des Innern Musterland - Zentrale Vergabestelle</cp:lastModifiedBy>
  <cp:revision>1</cp:revision>
  <dcterms:created xsi:type="dcterms:W3CDTF">2000-01-01T00:00:00Z</dcterms:created>
  <dcterms:modified xsi:type="dcterms:W3CDTF">2000-01-01T00:00:00Z</dcterms:modified>
  <cp:category>Vergabeakte</cp:category>
</cp:coreProperties>
</file>