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Prüfung Vergabeunterlagen und Wertungsmatrix</a:t>
            </a:r>
          </a:p>
        </p:txBody>
      </p:sp>
      <p:sp>
        <p:nvSpPr>
          <p:cNvPr id="3" name="Subtitle 2"/>
          <p:cNvSpPr>
            <a:spLocks noGrp="1"/>
          </p:cNvSpPr>
          <p:nvPr>
            <p:ph type="subTitle" idx="1"/>
          </p:nvPr>
        </p:nvSpPr>
        <p:spPr/>
        <p:txBody>
          <a:bodyPr/>
          <a:lstStyle/>
          <a:p>
            <a:r>
              <a:t>Datacenter Westfalen GmbH</a:t>
            </a:r>
          </a:p>
          <a:p>
            <a:r>
              <a:t>29.07.2026</a:t>
            </a:r>
          </a:p>
          <a:p>
            <a:r>
              <a:t>Az: DW-2026-RZ-011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Unterlagenbestand</a:t>
            </a:r>
          </a:p>
        </p:txBody>
      </p:sp>
      <p:sp>
        <p:nvSpPr>
          <p:cNvPr id="3" name="Content Placeholder 2"/>
          <p:cNvSpPr>
            <a:spLocks noGrp="1"/>
          </p:cNvSpPr>
          <p:nvPr>
            <p:ph idx="1"/>
          </p:nvPr>
        </p:nvSpPr>
        <p:spPr/>
        <p:txBody>
          <a:bodyPr wrap="square"/>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Unterlagenbestand</a:t>
            </a:r>
          </a:p>
        </p:txBody>
      </p:sp>
      <p:graphicFrame>
        <p:nvGraphicFramePr>
          <p:cNvPr id="3" name="Table 2"/>
          <p:cNvGraphicFramePr>
            <a:graphicFrameLocks noGrp="1"/>
          </p:cNvGraphicFramePr>
          <p:nvPr/>
        </p:nvGraphicFramePr>
        <p:xfrm>
          <a:off x="365760" y="1463040"/>
          <a:ext cx="8412480" cy="2084832"/>
        </p:xfrm>
        <a:graphic>
          <a:graphicData uri="http://schemas.openxmlformats.org/drawingml/2006/table">
            <a:tbl>
              <a:tblPr firstRow="1" bandRow="1">
                <a:tableStyleId>{5C22544A-7EE6-4342-B048-85BDC9FD1C3A}</a:tableStyleId>
              </a:tblPr>
              <a:tblGrid>
                <a:gridCol w="2804160"/>
                <a:gridCol w="2804160"/>
                <a:gridCol w="2804160"/>
              </a:tblGrid>
              <a:tr h="347472">
                <a:tc>
                  <a:txBody>
                    <a:bodyPr/>
                    <a:lstStyle/>
                    <a:p>
                      <a:r>
                        <a:rPr sz="1050" b="1"/>
                        <a:t>Datei</a:t>
                      </a:r>
                    </a:p>
                  </a:txBody>
                  <a:tcPr marL="64008" marR="64008" marT="36576" marB="36576"/>
                </a:tc>
                <a:tc>
                  <a:txBody>
                    <a:bodyPr/>
                    <a:lstStyle/>
                    <a:p>
                      <a:r>
                        <a:rPr sz="1050" b="1"/>
                        <a:t>Version</a:t>
                      </a:r>
                    </a:p>
                  </a:txBody>
                  <a:tcPr marL="64008" marR="64008" marT="36576" marB="36576"/>
                </a:tc>
                <a:tc>
                  <a:txBody>
                    <a:bodyPr/>
                    <a:lstStyle/>
                    <a:p>
                      <a:r>
                        <a:rPr sz="1050" b="1"/>
                        <a:t>Prüfung</a:t>
                      </a:r>
                    </a:p>
                  </a:txBody>
                  <a:tcPr marL="64008" marR="64008" marT="36576" marB="36576"/>
                </a:tc>
              </a:tr>
              <a:tr h="347472">
                <a:tc>
                  <a:txBody>
                    <a:bodyPr/>
                    <a:lstStyle/>
                    <a:p>
                      <a:r>
                        <a:rPr sz="1050" b="0"/>
                        <a:t>Leistungsbeschreibung_RZ_Betrieb.pdf</a:t>
                      </a:r>
                    </a:p>
                  </a:txBody>
                  <a:tcPr marL="64008" marR="64008" marT="36576" marB="36576"/>
                </a:tc>
                <a:tc>
                  <a:txBody>
                    <a:bodyPr/>
                    <a:lstStyle/>
                    <a:p>
                      <a:r>
                        <a:rPr sz="1050" b="0"/>
                        <a:t>1.0</a:t>
                      </a:r>
                    </a:p>
                  </a:txBody>
                  <a:tcPr marL="64008" marR="64008" marT="36576" marB="36576"/>
                </a:tc>
                <a:tc>
                  <a:txBody>
                    <a:bodyPr/>
                    <a:lstStyle/>
                    <a:p>
                      <a:r>
                        <a:rPr sz="1050" b="0"/>
                        <a:t>Technische Mindestanforderungen vollständig lesbar</a:t>
                      </a:r>
                    </a:p>
                  </a:txBody>
                  <a:tcPr marL="64008" marR="64008" marT="36576" marB="36576"/>
                </a:tc>
              </a:tr>
              <a:tr h="347472">
                <a:tc>
                  <a:txBody>
                    <a:bodyPr/>
                    <a:lstStyle/>
                    <a:p>
                      <a:r>
                        <a:rPr sz="1050" b="0"/>
                        <a:t>Preisblatt_RZ_Betrieb.xlsx</a:t>
                      </a:r>
                    </a:p>
                  </a:txBody>
                  <a:tcPr marL="64008" marR="64008" marT="36576" marB="36576"/>
                </a:tc>
                <a:tc>
                  <a:txBody>
                    <a:bodyPr/>
                    <a:lstStyle/>
                    <a:p>
                      <a:r>
                        <a:rPr sz="1050" b="0"/>
                        <a:t>1.0</a:t>
                      </a:r>
                    </a:p>
                  </a:txBody>
                  <a:tcPr marL="64008" marR="64008" marT="36576" marB="36576"/>
                </a:tc>
                <a:tc>
                  <a:txBody>
                    <a:bodyPr/>
                    <a:lstStyle/>
                    <a:p>
                      <a:r>
                        <a:rPr sz="1050" b="0"/>
                        <a:t>Pflichtfelder plausibel</a:t>
                      </a:r>
                    </a:p>
                  </a:txBody>
                  <a:tcPr marL="64008" marR="64008" marT="36576" marB="36576"/>
                </a:tc>
              </a:tr>
              <a:tr h="347472">
                <a:tc>
                  <a:txBody>
                    <a:bodyPr/>
                    <a:lstStyle/>
                    <a:p>
                      <a:r>
                        <a:rPr sz="1050" b="0"/>
                        <a:t>Zuschlagsmatrix_RZ_Betrieb.pdf</a:t>
                      </a:r>
                    </a:p>
                  </a:txBody>
                  <a:tcPr marL="64008" marR="64008" marT="36576" marB="36576"/>
                </a:tc>
                <a:tc>
                  <a:txBody>
                    <a:bodyPr/>
                    <a:lstStyle/>
                    <a:p>
                      <a:r>
                        <a:rPr sz="1050" b="0"/>
                        <a:t>1.0</a:t>
                      </a:r>
                    </a:p>
                  </a:txBody>
                  <a:tcPr marL="64008" marR="64008" marT="36576" marB="36576"/>
                </a:tc>
                <a:tc>
                  <a:txBody>
                    <a:bodyPr/>
                    <a:lstStyle/>
                    <a:p>
                      <a:r>
                        <a:rPr sz="1050" b="0"/>
                        <a:t>Unterkriterien ZK-3 nicht vollständig erkennbar</a:t>
                      </a:r>
                    </a:p>
                  </a:txBody>
                  <a:tcPr marL="64008" marR="64008" marT="36576" marB="36576"/>
                </a:tc>
              </a:tr>
              <a:tr h="347472">
                <a:tc>
                  <a:txBody>
                    <a:bodyPr/>
                    <a:lstStyle/>
                    <a:p>
                      <a:r>
                        <a:rPr sz="1050" b="0"/>
                        <a:t>Vertragsentwurf_RZ_Betrieb.pdf</a:t>
                      </a:r>
                    </a:p>
                  </a:txBody>
                  <a:tcPr marL="64008" marR="64008" marT="36576" marB="36576"/>
                </a:tc>
                <a:tc>
                  <a:txBody>
                    <a:bodyPr/>
                    <a:lstStyle/>
                    <a:p>
                      <a:r>
                        <a:rPr sz="1050" b="0"/>
                        <a:t>1.0</a:t>
                      </a:r>
                    </a:p>
                  </a:txBody>
                  <a:tcPr marL="64008" marR="64008" marT="36576" marB="36576"/>
                </a:tc>
                <a:tc>
                  <a:txBody>
                    <a:bodyPr/>
                    <a:lstStyle/>
                    <a:p>
                      <a:r>
                        <a:rPr sz="1050" b="0"/>
                        <a:t>SLA-Regime enthalten</a:t>
                      </a:r>
                    </a:p>
                  </a:txBody>
                  <a:tcPr marL="64008" marR="64008" marT="36576" marB="36576"/>
                </a:tc>
              </a:tr>
              <a:tr h="347472">
                <a:tc>
                  <a:txBody>
                    <a:bodyPr/>
                    <a:lstStyle/>
                    <a:p>
                      <a:r>
                        <a:rPr sz="1050" b="0"/>
                        <a:t>Portalnachricht_2026-07-28.pdf</a:t>
                      </a:r>
                    </a:p>
                  </a:txBody>
                  <a:tcPr marL="64008" marR="64008" marT="36576" marB="36576"/>
                </a:tc>
                <a:tc>
                  <a:txBody>
                    <a:bodyPr/>
                    <a:lstStyle/>
                    <a:p>
                      <a:r>
                        <a:rPr sz="1050" b="0"/>
                        <a:t>1.0</a:t>
                      </a:r>
                    </a:p>
                  </a:txBody>
                  <a:tcPr marL="64008" marR="64008" marT="36576" marB="36576"/>
                </a:tc>
                <a:tc>
                  <a:txBody>
                    <a:bodyPr/>
                    <a:lstStyle/>
                    <a:p>
                      <a:r>
                        <a:rPr sz="1050" b="0"/>
                        <a:t>Hinweis auf Pflicht zur PDF/ZIP-Abgabe</a:t>
                      </a:r>
                    </a:p>
                  </a:txBody>
                  <a:tcPr marL="64008" marR="64008" marT="36576" marB="36576"/>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Auffälligkeit ZK-3</a:t>
            </a:r>
          </a:p>
        </p:txBody>
      </p:sp>
      <p:sp>
        <p:nvSpPr>
          <p:cNvPr id="3" name="Content Placeholder 2"/>
          <p:cNvSpPr>
            <a:spLocks noGrp="1"/>
          </p:cNvSpPr>
          <p:nvPr>
            <p:ph idx="1"/>
          </p:nvPr>
        </p:nvSpPr>
        <p:spPr/>
        <p:txBody>
          <a:bodyPr wrap="square"/>
          <a:lstStyle/>
          <a:p>
            <a:pPr/>
            <a:r>
              <a:rPr sz="1400"/>
              <a:t>ZK-3 Ausfallsicherheit ist mit 25 Prozent gewichtet. Bewertet werden sollen Redundanz, Notfallhandbuch, Wiederanlaufzeit und Nachweis der zweiten Betriebsstätte. Die Bewertungsmatrix nennt aber keine Gewichtung dieser Unterpunkte. Für Bieter ist nicht sicher vorhersehbar, ob ein starkes Notfallhandbuch eine schwächere zweite Betriebsstätte ausgleichen kann.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Eignungsanforderung Referenzen</a:t>
            </a:r>
          </a:p>
        </p:txBody>
      </p:sp>
      <p:sp>
        <p:nvSpPr>
          <p:cNvPr id="3" name="Content Placeholder 2"/>
          <p:cNvSpPr>
            <a:spLocks noGrp="1"/>
          </p:cNvSpPr>
          <p:nvPr>
            <p:ph idx="1"/>
          </p:nvPr>
        </p:nvSpPr>
        <p:spPr/>
        <p:txBody>
          <a:bodyPr wrap="square"/>
          <a:lstStyle/>
          <a:p>
            <a:pPr/>
            <a:r>
              <a:rPr sz="1400"/>
              <a:t>Die Eignung verlangt zwei Referenzen über kommunale Rechenzentrumsleistungen mit 24/7-Betrieb. Datacenter Westfalen kann zwei Referenzen nachweisen. Für CloudNord AG ist öffentlich nur ein kommunaler Referenzauftrag bekannt; eine zweite Referenz betrifft privates Hosting ohne kommunale Fachverfahren.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Entscheidung</a:t>
            </a:r>
          </a:p>
        </p:txBody>
      </p:sp>
      <p:sp>
        <p:nvSpPr>
          <p:cNvPr id="3" name="Content Placeholder 2"/>
          <p:cNvSpPr>
            <a:spLocks noGrp="1"/>
          </p:cNvSpPr>
          <p:nvPr>
            <p:ph idx="1"/>
          </p:nvPr>
        </p:nvSpPr>
        <p:spPr/>
        <p:txBody>
          <a:bodyPr wrap="square"/>
          <a:lstStyle/>
          <a:p>
            <a:pPr/>
            <a:r>
              <a:rPr sz="1400"/>
              <a:t>Noch keine Rüge vor Angebotsfrist, weil der Angriff auf CloudNord erst bei Kenntnis der Zuschlagsentscheidung konkret wird. ZK-3 bleibt aber als potentiell intransparent markiert.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Prüfung Vergabeunterlagen und Wertungsmatrix</dc:title>
  <dc:subject>Prüfbericht Unterlagen | Az. DW-2026-RZ-011</dc:subject>
  <dc:creator>Datacenter Westfalen GmbH</dc:creator>
  <cp:keywords>Vergaberecht, DW-2026-RZ-011, Prüfbericht Unterlagen</cp:keywords>
  <dc:description>generated using python-pptx</dc:description>
  <cp:lastModifiedBy>Datacenter Westfalen GmbH</cp:lastModifiedBy>
  <cp:revision>1</cp:revision>
  <dcterms:created xsi:type="dcterms:W3CDTF">2000-01-01T00:00:00Z</dcterms:created>
  <dcterms:modified xsi:type="dcterms:W3CDTF">2000-01-01T00:00:00Z</dcterms:modified>
  <cp:category>Vergabeakte</cp:category>
</cp:coreProperties>
</file>